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188720"/>
            <a:ext cx="9784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Arial"/>
              </a:defRPr>
            </a:pPr>
            <a:r>
              <a:t>GUVI HCL HACKATHON 2026 • REVIEW 1</a:t>
            </a:r>
          </a:p>
          <a:p>
            <a:pPr>
              <a:spcBef>
                <a:spcPts val="800"/>
              </a:spcBef>
              <a:defRPr sz="3800" b="1">
                <a:solidFill>
                  <a:srgbClr val="0F172A"/>
                </a:solidFill>
                <a:latin typeface="Arial"/>
              </a:defRPr>
            </a:pPr>
            <a:r>
              <a:t>FraudShield AI</a:t>
            </a:r>
          </a:p>
          <a:p>
            <a:pPr>
              <a:spcBef>
                <a:spcPts val="600"/>
              </a:spcBef>
              <a:defRPr sz="1800">
                <a:solidFill>
                  <a:srgbClr val="334155"/>
                </a:solidFill>
                <a:latin typeface="Arial"/>
              </a:defRPr>
            </a:pPr>
            <a:r>
              <a:t>Explainable AI-Powered UPI &amp; Digital Payment Fraud Detection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474720"/>
            <a:ext cx="4114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Arial"/>
              </a:defRPr>
            </a:pPr>
            <a:r>
              <a:t>TEAM DETAILS</a:t>
            </a:r>
          </a:p>
          <a:p>
            <a:pPr>
              <a:spcBef>
                <a:spcPts val="400"/>
              </a:spcBef>
              <a:defRPr sz="1600" b="1">
                <a:solidFill>
                  <a:srgbClr val="0F172A"/>
                </a:solidFill>
                <a:latin typeface="Arial"/>
              </a:defRPr>
            </a:pPr>
            <a:r>
              <a:t>Team Name: Team Sentinel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  <a:latin typeface="Arial"/>
              </a:defRPr>
            </a:pPr>
            <a:r>
              <a:t>Domain: Fintech Security / Web &amp; Core Java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3474720"/>
            <a:ext cx="5303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Arial"/>
              </a:defRPr>
            </a:pPr>
            <a:r>
              <a:t>TEAM MEMBERS</a:t>
            </a:r>
          </a:p>
          <a:p>
            <a:pPr>
              <a:spcBef>
                <a:spcPts val="400"/>
              </a:spcBef>
              <a:defRPr sz="1400" b="1">
                <a:solidFill>
                  <a:srgbClr val="0F172A"/>
                </a:solidFill>
                <a:latin typeface="Arial"/>
              </a:defRPr>
            </a:pPr>
            <a:r>
              <a:t>• PRAGYA SINGH</a:t>
            </a:r>
          </a:p>
          <a:p>
            <a:pPr>
              <a:spcBef>
                <a:spcPts val="400"/>
              </a:spcBef>
              <a:defRPr sz="1400" b="1">
                <a:solidFill>
                  <a:srgbClr val="0F172A"/>
                </a:solidFill>
                <a:latin typeface="Arial"/>
              </a:defRPr>
            </a:pPr>
            <a:r>
              <a:t>• ADITI YADAV</a:t>
            </a:r>
          </a:p>
          <a:p>
            <a:pPr>
              <a:spcBef>
                <a:spcPts val="400"/>
              </a:spcBef>
              <a:defRPr sz="1400" b="1">
                <a:solidFill>
                  <a:srgbClr val="0F172A"/>
                </a:solidFill>
                <a:latin typeface="Arial"/>
              </a:defRPr>
            </a:pPr>
            <a:r>
              <a:t>• SMRITI JHA</a:t>
            </a:r>
          </a:p>
          <a:p>
            <a:pPr>
              <a:spcBef>
                <a:spcPts val="400"/>
              </a:spcBef>
              <a:defRPr sz="1400" b="1">
                <a:solidFill>
                  <a:srgbClr val="0F172A"/>
                </a:solidFill>
                <a:latin typeface="Arial"/>
              </a:defRPr>
            </a:pPr>
            <a:r>
              <a:t>• PRIYANKA SHARMA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GUVI HCL HACKATHON • REVIEW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Problem Statement &amp; Industry Need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THE PROBLEM</a:t>
            </a:r>
          </a:p>
          <a:p>
            <a:pPr>
              <a:spcBef>
                <a:spcPts val="1400"/>
              </a:spcBef>
              <a:defRPr sz="1300">
                <a:solidFill>
                  <a:srgbClr val="334155"/>
                </a:solidFill>
              </a:defRPr>
            </a:pPr>
            <a:r>
              <a:t>• Instant Settlements: UPI &amp; digital transactions settle in milliseconds and are irreversible.</a:t>
            </a:r>
          </a:p>
          <a:p>
            <a:pPr>
              <a:spcBef>
                <a:spcPts val="1400"/>
              </a:spcBef>
              <a:defRPr sz="1300">
                <a:solidFill>
                  <a:srgbClr val="334155"/>
                </a:solidFill>
              </a:defRPr>
            </a:pPr>
            <a:r>
              <a:t>• Behavioral Variance: Fraud looks like anomalous behavior (sudden 10x amount, 3 AM transaction, new device, foreign location).</a:t>
            </a:r>
          </a:p>
          <a:p>
            <a:pPr>
              <a:spcBef>
                <a:spcPts val="1400"/>
              </a:spcBef>
              <a:defRPr sz="1300">
                <a:solidFill>
                  <a:srgbClr val="334155"/>
                </a:solidFill>
              </a:defRPr>
            </a:pPr>
            <a:r>
              <a:t>• The 'Black-Box' Trap: Existing ML solutions give binary labels ('Fraud / Not Fraud') without explainability. Analysts cannot defend why an account was blocked.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55448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73736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OUR OBJECTIVES</a:t>
            </a:r>
          </a:p>
          <a:p>
            <a:pPr>
              <a:spcBef>
                <a:spcPts val="1400"/>
              </a:spcBef>
              <a:defRPr sz="1300">
                <a:solidFill>
                  <a:srgbClr val="334155"/>
                </a:solidFill>
              </a:defRPr>
            </a:pPr>
            <a:r>
              <a:t>• Personalized Baseline: Compare every transaction against the customer's own approved spending history, not rigid global thresholds.</a:t>
            </a:r>
          </a:p>
          <a:p>
            <a:pPr>
              <a:spcBef>
                <a:spcPts val="1400"/>
              </a:spcBef>
              <a:defRPr sz="1300">
                <a:solidFill>
                  <a:srgbClr val="334155"/>
                </a:solidFill>
              </a:defRPr>
            </a:pPr>
            <a:r>
              <a:t>• Hybrid Scoring Engine: Combine 75% Rule-based Behavioral heuristics with 25% Weka J48 Machine Learning probability.</a:t>
            </a:r>
          </a:p>
          <a:p>
            <a:pPr>
              <a:spcBef>
                <a:spcPts val="1400"/>
              </a:spcBef>
              <a:defRPr sz="1300">
                <a:solidFill>
                  <a:srgbClr val="334155"/>
                </a:solidFill>
              </a:defRPr>
            </a:pPr>
            <a:r>
              <a:t>• Explainable Intelligence: Produce transparent 0-100 score + detailed checklist of triggered factors for human analysts to review instantly.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GUVI HCL HACKATHON • REVIEW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Multi-Tier 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685800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737360"/>
            <a:ext cx="6492240" cy="321355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863840" y="1554480"/>
            <a:ext cx="356616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1737360"/>
            <a:ext cx="3200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LAYERED DESIGN</a:t>
            </a:r>
          </a:p>
          <a:p>
            <a:pPr>
              <a:spcBef>
                <a:spcPts val="1000"/>
              </a:spcBef>
              <a:defRPr sz="1100">
                <a:solidFill>
                  <a:srgbClr val="334155"/>
                </a:solidFill>
              </a:defRPr>
            </a:pPr>
            <a:r>
              <a:t>• Presentation Layer: JSP 2.3 + JSTL 1.2, CSS3 responsive grid (Zero scriptlets).</a:t>
            </a:r>
          </a:p>
          <a:p>
            <a:pPr>
              <a:spcBef>
                <a:spcPts val="1000"/>
              </a:spcBef>
              <a:defRPr sz="1100">
                <a:solidFill>
                  <a:srgbClr val="334155"/>
                </a:solidFill>
              </a:defRPr>
            </a:pPr>
            <a:r>
              <a:t>• Security Filter: AuthFilter for session lifecycle &amp; CSRF token verification.</a:t>
            </a:r>
          </a:p>
          <a:p>
            <a:pPr>
              <a:spcBef>
                <a:spcPts val="1000"/>
              </a:spcBef>
              <a:defRPr sz="1100">
                <a:solidFill>
                  <a:srgbClr val="334155"/>
                </a:solidFill>
              </a:defRPr>
            </a:pPr>
            <a:r>
              <a:t>• Controller Layer: 10+ Java Servlets 4.0 handling HTTP requests, validations.</a:t>
            </a:r>
          </a:p>
          <a:p>
            <a:pPr>
              <a:spcBef>
                <a:spcPts val="1000"/>
              </a:spcBef>
              <a:defRPr sz="1100">
                <a:solidFill>
                  <a:srgbClr val="334155"/>
                </a:solidFill>
              </a:defRPr>
            </a:pPr>
            <a:r>
              <a:t>• Service &amp; Engine: FixedThreadPool async workers &amp; HybridRiskAnalyzer.</a:t>
            </a:r>
          </a:p>
          <a:p>
            <a:pPr>
              <a:spcBef>
                <a:spcPts val="1000"/>
              </a:spcBef>
              <a:defRPr sz="1100">
                <a:solidFill>
                  <a:srgbClr val="334155"/>
                </a:solidFill>
              </a:defRPr>
            </a:pPr>
            <a:r>
              <a:t>• Persistence Layer: 6 DAOs using PreparedStatement &amp; ACID JDBC transactions.</a:t>
            </a:r>
          </a:p>
          <a:p>
            <a:pPr>
              <a:spcBef>
                <a:spcPts val="1000"/>
              </a:spcBef>
              <a:defRPr sz="1100">
                <a:solidFill>
                  <a:srgbClr val="334155"/>
                </a:solidFill>
              </a:defRPr>
            </a:pPr>
            <a:r>
              <a:t>• Database &amp; ML: MySQL 8.0 relational tables &amp; Weka J48 Decision Tree.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GUVI HCL HACKATHON • REVIEW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Relational Database Design (MySQL 8.0)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685800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91640"/>
            <a:ext cx="6492240" cy="564542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863840" y="1554480"/>
            <a:ext cx="356616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1737360"/>
            <a:ext cx="3200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DATABASE SCHEMA HIGHLIGHTS</a:t>
            </a:r>
          </a:p>
          <a:p>
            <a:pPr>
              <a:spcBef>
                <a:spcPts val="1200"/>
              </a:spcBef>
              <a:defRPr sz="1150">
                <a:solidFill>
                  <a:srgbClr val="334155"/>
                </a:solidFill>
              </a:defRPr>
            </a:pPr>
            <a:r>
              <a:t>• 6 Relational Tables: users, transactions, risk_analysis, fraud_alerts, devices, behavior_profiles.</a:t>
            </a:r>
          </a:p>
          <a:p>
            <a:pPr>
              <a:spcBef>
                <a:spcPts val="1200"/>
              </a:spcBef>
              <a:defRPr sz="1150">
                <a:solidFill>
                  <a:srgbClr val="334155"/>
                </a:solidFill>
              </a:defRPr>
            </a:pPr>
            <a:r>
              <a:t>• Data Integrity: Foreign keys with ON DELETE CASCADE prevent orphaned child records.</a:t>
            </a:r>
          </a:p>
          <a:p>
            <a:pPr>
              <a:spcBef>
                <a:spcPts val="1200"/>
              </a:spcBef>
              <a:defRPr sz="1150">
                <a:solidFill>
                  <a:srgbClr val="334155"/>
                </a:solidFill>
              </a:defRPr>
            </a:pPr>
            <a:r>
              <a:t>• CHECK Constraints: amount &gt; 0 and risk_score BETWEEN 0 AND 100 enforced at DB level.</a:t>
            </a:r>
          </a:p>
          <a:p>
            <a:pPr>
              <a:spcBef>
                <a:spcPts val="1200"/>
              </a:spcBef>
              <a:defRPr sz="1150">
                <a:solidFill>
                  <a:srgbClr val="334155"/>
                </a:solidFill>
              </a:defRPr>
            </a:pPr>
            <a:r>
              <a:t>• Indexed Queries: Compound indexes on (user_id, transaction_time) and status for sub-second retrieval.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GUVI HCL HACKATHON • REVIEW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Real-Time Transaction Lifecycle &amp;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728655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workflow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10149840" cy="23762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05840" y="3108960"/>
            <a:ext cx="101498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200">
                <a:solidFill>
                  <a:srgbClr val="334155"/>
                </a:solidFill>
              </a:defRPr>
            </a:pPr>
            <a:r>
              <a:t>• 1. Transaction Ingestion: User inputs payment. Validated via ValidationUtil (regex for UPI IDs, amounts).</a:t>
            </a:r>
          </a:p>
          <a:p>
            <a:pPr>
              <a:spcBef>
                <a:spcPts val="1000"/>
              </a:spcBef>
              <a:defRPr sz="1200">
                <a:solidFill>
                  <a:srgbClr val="334155"/>
                </a:solidFill>
              </a:defRPr>
            </a:pPr>
            <a:r>
              <a:t>• 2. State 'PENDING': Saved to MySQL with status PENDING to prevent race conditions.</a:t>
            </a:r>
          </a:p>
          <a:p>
            <a:pPr>
              <a:spcBef>
                <a:spcPts val="1000"/>
              </a:spcBef>
              <a:defRPr sz="1200">
                <a:solidFill>
                  <a:srgbClr val="334155"/>
                </a:solidFill>
              </a:defRPr>
            </a:pPr>
            <a:r>
              <a:t>• 3. Concurrency &amp; Lock: Worker thread acquires per-customer lock (ConcurrentHashMap userLocks) ensuring sequential order.</a:t>
            </a:r>
          </a:p>
          <a:p>
            <a:pPr>
              <a:spcBef>
                <a:spcPts val="1000"/>
              </a:spcBef>
              <a:defRPr sz="1200">
                <a:solidFill>
                  <a:srgbClr val="334155"/>
                </a:solidFill>
              </a:defRPr>
            </a:pPr>
            <a:r>
              <a:t>• 4. Hybrid Analysis: RuleBasedAnalyzer computes 6 weighted factors; MLTransactionAnalyzer evaluates Weka tree.</a:t>
            </a:r>
          </a:p>
          <a:p>
            <a:pPr>
              <a:spcBef>
                <a:spcPts val="1000"/>
              </a:spcBef>
              <a:defRPr sz="1200">
                <a:solidFill>
                  <a:srgbClr val="334155"/>
                </a:solidFill>
              </a:defRPr>
            </a:pPr>
            <a:r>
              <a:t>• 5. Atomic Commit: Single JDBC transaction updates transactions, risk_analysis, and fraud_alerts with commit/rollback.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GUVI HCL HACKATHON • REVIEW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Core Java &amp; Object-Oriented Principles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Inheritance &amp; Template Method</a:t>
            </a:r>
          </a:p>
          <a:p>
            <a:pPr>
              <a:spcBef>
                <a:spcPts val="800"/>
              </a:spcBef>
              <a:defRPr sz="1200">
                <a:solidFill>
                  <a:srgbClr val="334155"/>
                </a:solidFill>
              </a:defRPr>
            </a:pPr>
            <a:r>
              <a:t>Abstract TransactionAnalyzer defines final analyze() lifecycle method; RuleBasedAnalyzer &amp; MLTransactionAnalyzer extend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554480"/>
            <a:ext cx="512064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3736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Polymorphism &amp; Interfaces</a:t>
            </a:r>
          </a:p>
          <a:p>
            <a:pPr>
              <a:spcBef>
                <a:spcPts val="800"/>
              </a:spcBef>
              <a:defRPr sz="1200">
                <a:solidFill>
                  <a:srgbClr val="334155"/>
                </a:solidFill>
              </a:defRPr>
            </a:pPr>
            <a:r>
              <a:t>FraudDetector, RiskAnalyzer, and generic DAOOperations&lt;T&gt; interfaces allow modular replacement of detection strategies.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12064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Multithreading &amp; Concurrency</a:t>
            </a:r>
          </a:p>
          <a:p>
            <a:pPr>
              <a:spcBef>
                <a:spcPts val="800"/>
              </a:spcBef>
              <a:defRPr sz="1200">
                <a:solidFill>
                  <a:srgbClr val="334155"/>
                </a:solidFill>
              </a:defRPr>
            </a:pPr>
            <a:r>
              <a:t>AppExecutors manages a FixedThreadPool (4 workers). Callable/Future return async results; per-customer locking prevents race conditions.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3931920"/>
            <a:ext cx="512064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11480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Robust Exception Handling</a:t>
            </a:r>
          </a:p>
          <a:p>
            <a:pPr>
              <a:spcBef>
                <a:spcPts val="800"/>
              </a:spcBef>
              <a:defRPr sz="1200">
                <a:solidFill>
                  <a:srgbClr val="334155"/>
                </a:solidFill>
              </a:defRPr>
            </a:pPr>
            <a:r>
              <a:t>4 Custom exceptions (InvalidTransaction, Authentication, FraudAnalysis, DatabaseOperation) decouple JDBC from Servlets.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GUVI HCL HACKATHON • REVIEW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User Interface &amp; Aesthetics — Console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685800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2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91640"/>
            <a:ext cx="6583680" cy="3641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863840" y="1554480"/>
            <a:ext cx="356616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1737360"/>
            <a:ext cx="3200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KEY DASHBOARD CAPABILITIES</a:t>
            </a:r>
          </a:p>
          <a:p>
            <a:pPr>
              <a:spcBef>
                <a:spcPts val="1200"/>
              </a:spcBef>
              <a:defRPr sz="1150">
                <a:solidFill>
                  <a:srgbClr val="334155"/>
                </a:solidFill>
              </a:defRPr>
            </a:pPr>
            <a:r>
              <a:t>• KPI Summary Cards: Total transactions (260), Open alerts, Avg risk score, and High/Critical counts.</a:t>
            </a:r>
          </a:p>
          <a:p>
            <a:pPr>
              <a:spcBef>
                <a:spcPts val="1200"/>
              </a:spcBef>
              <a:defRPr sz="1150">
                <a:solidFill>
                  <a:srgbClr val="334155"/>
                </a:solidFill>
              </a:defRPr>
            </a:pPr>
            <a:r>
              <a:t>• Risk Distribution Bar: Visual breakdown of Low, Medium, High, and Critical volume.</a:t>
            </a:r>
          </a:p>
          <a:p>
            <a:pPr>
              <a:spcBef>
                <a:spcPts val="1200"/>
              </a:spcBef>
              <a:defRPr sz="1150">
                <a:solidFill>
                  <a:srgbClr val="334155"/>
                </a:solidFill>
              </a:defRPr>
            </a:pPr>
            <a:r>
              <a:t>• Engine Status Widget: Real-time health indicator of the trained Weka ML model and background worker pool.</a:t>
            </a:r>
          </a:p>
          <a:p>
            <a:pPr>
              <a:spcBef>
                <a:spcPts val="1200"/>
              </a:spcBef>
              <a:defRPr sz="1150">
                <a:solidFill>
                  <a:srgbClr val="334155"/>
                </a:solidFill>
              </a:defRPr>
            </a:pPr>
            <a:r>
              <a:t>• Recent Alerts Queue: Instant access to freshly flagged suspicious events for rapid triage.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GUVI HCL HACKATHON • REVIEW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Explainable Risk Scoring &amp; Decision Breakdown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685800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6-risk-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91640"/>
            <a:ext cx="6583680" cy="3641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863840" y="1554480"/>
            <a:ext cx="356616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1737360"/>
            <a:ext cx="3200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HOW EXPLAINABILITY WORKS</a:t>
            </a:r>
          </a:p>
          <a:p>
            <a:pPr>
              <a:spcBef>
                <a:spcPts val="1200"/>
              </a:spcBef>
              <a:defRPr sz="1150">
                <a:solidFill>
                  <a:srgbClr val="334155"/>
                </a:solidFill>
              </a:defRPr>
            </a:pPr>
            <a:r>
              <a:t>• 0 - 100 Score Meter: Clear color-coded gauge (Green=Low, Yellow=Medium, Orange=High, Red=Critical).</a:t>
            </a:r>
          </a:p>
          <a:p>
            <a:pPr>
              <a:spcBef>
                <a:spcPts val="1200"/>
              </a:spcBef>
              <a:defRPr sz="1150">
                <a:solidFill>
                  <a:srgbClr val="334155"/>
                </a:solidFill>
              </a:defRPr>
            </a:pPr>
            <a:r>
              <a:t>• Ticked Rule Factors: Exact reasons listed (e.g. Amount 25x above average, payment at 3 AM, foreign city).</a:t>
            </a:r>
          </a:p>
          <a:p>
            <a:pPr>
              <a:spcBef>
                <a:spcPts val="1200"/>
              </a:spcBef>
              <a:defRPr sz="1150">
                <a:solidFill>
                  <a:srgbClr val="334155"/>
                </a:solidFill>
              </a:defRPr>
            </a:pPr>
            <a:r>
              <a:t>• Transparent Weights: Detailed table showing exact points contribution per heuristic.</a:t>
            </a:r>
          </a:p>
          <a:p>
            <a:pPr>
              <a:spcBef>
                <a:spcPts val="1200"/>
              </a:spcBef>
              <a:defRPr sz="1150">
                <a:solidFill>
                  <a:srgbClr val="334155"/>
                </a:solidFill>
              </a:defRPr>
            </a:pPr>
            <a:r>
              <a:t>• Audit-Ready: Includes analysis method, ML probability %, and timestamp for regulatory compliance.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GUVI HCL HACKATHON • REVIEW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Alert Workflow &amp; Weka Decision Tree Analytics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2563EB"/>
                </a:solidFill>
              </a:defRPr>
            </a:pPr>
            <a:r>
              <a:t>FRAUD ALERTS &amp; ANALYST ACTIONS</a:t>
            </a:r>
          </a:p>
        </p:txBody>
      </p:sp>
      <p:pic>
        <p:nvPicPr>
          <p:cNvPr id="7" name="Picture 6" descr="04-ale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03120"/>
            <a:ext cx="4754880" cy="262969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309360" y="155448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4592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2563EB"/>
                </a:solidFill>
              </a:defRPr>
            </a:pPr>
            <a:r>
              <a:t>WEKA J48 DECISION TREE &amp; ACCURACY</a:t>
            </a:r>
          </a:p>
        </p:txBody>
      </p:sp>
      <p:pic>
        <p:nvPicPr>
          <p:cNvPr id="10" name="Picture 9" descr="05-analyt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103120"/>
            <a:ext cx="4754880" cy="262969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GUVI HCL HACKATHON • REVIEW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Hackathon Review 1 Evaluation Rubric Mapping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728655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05840" y="1828800"/>
          <a:ext cx="101498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005840"/>
                <a:gridCol w="4297680"/>
                <a:gridCol w="2286000"/>
              </a:tblGrid>
              <a:tr h="82296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Rubric Criteria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Marks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Implementation in FraudShield AI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Evidence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Problem Understanding &amp; Solution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8 /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Real-time UPI fraud detection comparing payments against historical behavior profiles; explainable 0-100 score.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Risk Page, Architecture Docs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Core Java Concepts &amp; OOP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10 /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Abstract TransactionAnalyzer, FraudDetector interfaces, Collections, FixedThreadPool concurrency, custom exceptions.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Java Classes, Code Tour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Database Integration (JDBC)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8 /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6 DAO classes implementing DAOOperations&lt;T&gt;, PreparedStatement only, ACID commit/rollback, schema with cascades.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MySQL DB, schema.sql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Servlets &amp; Web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7 /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11 @WebServlet classes, AuthFilter for sessions/CSRF, JSP/JSTL views with zero scriptlets, web.xml config.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Running Web App, WAR Build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GUVI HCL HACKATHON • REVIEW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Review 1 Deliverables &amp; Project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REVIEW 1 COMPLETED DELIVERABLES</a:t>
            </a:r>
          </a:p>
          <a:p>
            <a:pPr>
              <a:spcBef>
                <a:spcPts val="1200"/>
              </a:spcBef>
              <a:defRPr sz="1250">
                <a:solidFill>
                  <a:srgbClr val="334155"/>
                </a:solidFill>
              </a:defRPr>
            </a:pPr>
            <a:r>
              <a:t>✔ Project Structure &amp; Setup: WAR packaging, clean 3-tier modular architecture, Java 17 + Maven build.</a:t>
            </a:r>
          </a:p>
          <a:p>
            <a:pPr>
              <a:spcBef>
                <a:spcPts val="1200"/>
              </a:spcBef>
              <a:defRPr sz="1250">
                <a:solidFill>
                  <a:srgbClr val="334155"/>
                </a:solidFill>
              </a:defRPr>
            </a:pPr>
            <a:r>
              <a:t>✔ Database Design &amp; Integration: 6 normalized MySQL tables with foreign keys, CHECK constraints, and 6 JDBC DAOs.</a:t>
            </a:r>
          </a:p>
          <a:p>
            <a:pPr>
              <a:spcBef>
                <a:spcPts val="1200"/>
              </a:spcBef>
              <a:defRPr sz="1250">
                <a:solidFill>
                  <a:srgbClr val="334155"/>
                </a:solidFill>
              </a:defRPr>
            </a:pPr>
            <a:r>
              <a:t>✔ UI Aesthetics &amp; Responsiveness: Modern CSS/HTML analyst console tested across 14 routes with zero JSP errors.</a:t>
            </a:r>
          </a:p>
          <a:p>
            <a:pPr>
              <a:spcBef>
                <a:spcPts val="1200"/>
              </a:spcBef>
              <a:defRPr sz="1250">
                <a:solidFill>
                  <a:srgbClr val="334155"/>
                </a:solidFill>
              </a:defRPr>
            </a:pPr>
            <a:r>
              <a:t>✔ Public GitHub Repository: https://github.com/pragyasingh-12/FraudShield-AI with 900+ lines comprehensive README.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55448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73736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ROADMAP FOR REVIEW 2</a:t>
            </a:r>
          </a:p>
          <a:p>
            <a:pPr>
              <a:spcBef>
                <a:spcPts val="1200"/>
              </a:spcBef>
              <a:defRPr sz="1250">
                <a:solidFill>
                  <a:srgbClr val="334155"/>
                </a:solidFill>
              </a:defRPr>
            </a:pPr>
            <a:r>
              <a:t>➔ Connection Pooling: Integrate HikariCP for high-throughput database connection management.</a:t>
            </a:r>
          </a:p>
          <a:p>
            <a:pPr>
              <a:spcBef>
                <a:spcPts val="1200"/>
              </a:spcBef>
              <a:defRPr sz="1250">
                <a:solidFill>
                  <a:srgbClr val="334155"/>
                </a:solidFill>
              </a:defRPr>
            </a:pPr>
            <a:r>
              <a:t>➔ Automated Unit Testing: Implement JUnit 5 and Mockito tests for RuleBasedAnalyzer and DAOs.</a:t>
            </a:r>
          </a:p>
          <a:p>
            <a:pPr>
              <a:spcBef>
                <a:spcPts val="1200"/>
              </a:spcBef>
              <a:defRPr sz="1250">
                <a:solidFill>
                  <a:srgbClr val="334155"/>
                </a:solidFill>
              </a:defRPr>
            </a:pPr>
            <a:r>
              <a:t>➔ Model Retraining Pipeline: Automatically retrain Weka model using analyst decisions (Confirmed vs False Positive).</a:t>
            </a:r>
          </a:p>
          <a:p>
            <a:pPr>
              <a:spcBef>
                <a:spcPts val="1200"/>
              </a:spcBef>
              <a:defRPr sz="1250">
                <a:solidFill>
                  <a:srgbClr val="334155"/>
                </a:solidFill>
              </a:defRPr>
            </a:pPr>
            <a:r>
              <a:t>➔ SMS &amp; Email Notifications: Integrate alerts dispatch for immediate high-risk payment notifications.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18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FraudShield AI</a:t>
            </a:r>
          </a:p>
          <a:p>
            <a:pPr algn="ctr">
              <a:spcBef>
                <a:spcPts val="1200"/>
              </a:spcBef>
              <a:defRPr sz="2200">
                <a:solidFill>
                  <a:srgbClr val="93C5FD"/>
                </a:solidFill>
              </a:defRPr>
            </a:pPr>
            <a:r>
              <a:t>Thank You! Questions &amp; Discussion</a:t>
            </a:r>
          </a:p>
          <a:p>
            <a:pPr algn="ctr">
              <a:spcBef>
                <a:spcPts val="1600"/>
              </a:spcBef>
              <a:defRPr sz="1400">
                <a:solidFill>
                  <a:srgbClr val="CBD5E1"/>
                </a:solidFill>
              </a:defRPr>
            </a:pPr>
            <a:r>
              <a:t>Team Sentinel • Galgotias University • GUVI HCL Hackathon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